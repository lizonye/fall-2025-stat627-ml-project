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32918400" cy="21945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166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14800" y="3591561"/>
            <a:ext cx="24688800" cy="76403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11526521"/>
            <a:ext cx="24688800" cy="529843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5" y="5471163"/>
            <a:ext cx="28392120" cy="912875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5" y="14686283"/>
            <a:ext cx="28392120" cy="48005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5842000"/>
            <a:ext cx="13990320" cy="13924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5842000"/>
            <a:ext cx="13990320" cy="13924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7" y="1168402"/>
            <a:ext cx="28392120" cy="42418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29" y="5379721"/>
            <a:ext cx="13926026" cy="26365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29" y="8016240"/>
            <a:ext cx="13926026" cy="1179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0" y="5379721"/>
            <a:ext cx="13994607" cy="263651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0" y="8016240"/>
            <a:ext cx="13994607" cy="117906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9" y="1463040"/>
            <a:ext cx="10617041" cy="51206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7" y="3159761"/>
            <a:ext cx="16664940" cy="15595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9" y="6583680"/>
            <a:ext cx="10617041" cy="1219708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9" y="1463040"/>
            <a:ext cx="10617041" cy="51206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7" y="3159761"/>
            <a:ext cx="16664940" cy="155956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9" y="6583680"/>
            <a:ext cx="10617041" cy="1219708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0" y="1168400"/>
            <a:ext cx="7098030" cy="1859788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0" y="1168400"/>
            <a:ext cx="20882610" cy="1859788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1168402"/>
            <a:ext cx="28392120" cy="4241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5842000"/>
            <a:ext cx="28392120" cy="13924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20340321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20340321"/>
            <a:ext cx="1110996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20340321"/>
            <a:ext cx="7406640" cy="1168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doi.org/10.1016/j.cortex.2009.11.008" TargetMode="External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hyperlink" Target="https://doi.org/10.1016/j.nicl.2016.10.01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hyperlink" Target="https://doi.org/10.1016/j.pneurobio.2019.01.008" TargetMode="External"/><Relationship Id="rId5" Type="http://schemas.openxmlformats.org/officeDocument/2006/relationships/image" Target="../media/image4.png"/><Relationship Id="rId10" Type="http://schemas.openxmlformats.org/officeDocument/2006/relationships/hyperlink" Target="https://doi.org/10.1007/s12311-020-01168-w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hyperlink" Target="https://doi.org/10.1016/j.neucom.2015.07.14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51561-DF1F-40B8-FDDE-09A9BEB20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EFCAB2-9CAA-E3FB-5DA7-18EC8C920E02}"/>
              </a:ext>
            </a:extLst>
          </p:cNvPr>
          <p:cNvSpPr txBox="1"/>
          <p:nvPr/>
        </p:nvSpPr>
        <p:spPr>
          <a:xfrm>
            <a:off x="6731517" y="281353"/>
            <a:ext cx="19470108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6600" b="1">
                <a:solidFill>
                  <a:schemeClr val="tx2">
                    <a:lumMod val="76000"/>
                    <a:lumOff val="24000"/>
                  </a:schemeClr>
                </a:solidFill>
              </a:rPr>
              <a:t>PREDICTING DEFICITS IN ACTION PREDICTION FROM TUMOR LOCATION</a:t>
            </a:r>
          </a:p>
          <a:p>
            <a:pPr algn="ctr"/>
            <a:r>
              <a:rPr lang="en-US" sz="4400">
                <a:solidFill>
                  <a:schemeClr val="tx2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Sally Henley, Ogechi Onyewu, Rebecca Tegiacchi</a:t>
            </a:r>
            <a:endParaRPr lang="en-US" sz="1800">
              <a:solidFill>
                <a:schemeClr val="tx2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CA954C-9E4D-B871-C775-932D07D0D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9592" y="292211"/>
            <a:ext cx="2709834" cy="259243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D312A35-4E84-25F9-4D3D-DB88DE055764}"/>
              </a:ext>
            </a:extLst>
          </p:cNvPr>
          <p:cNvGrpSpPr/>
          <p:nvPr/>
        </p:nvGrpSpPr>
        <p:grpSpPr>
          <a:xfrm>
            <a:off x="187409" y="1341049"/>
            <a:ext cx="10057541" cy="11907350"/>
            <a:chOff x="-62849" y="705781"/>
            <a:chExt cx="10057541" cy="1190735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1444476-A61F-284F-623E-840DC9964788}"/>
                </a:ext>
              </a:extLst>
            </p:cNvPr>
            <p:cNvSpPr txBox="1"/>
            <p:nvPr/>
          </p:nvSpPr>
          <p:spPr>
            <a:xfrm>
              <a:off x="-57872" y="8253724"/>
              <a:ext cx="6330671" cy="615553"/>
            </a:xfrm>
            <a:prstGeom prst="rect">
              <a:avLst/>
            </a:prstGeom>
            <a:no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400" b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DATA SET</a:t>
              </a:r>
              <a:endParaRPr lang="en-US" sz="340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0BC3B1A-8ADC-8D30-3D3D-B402A4F01095}"/>
                </a:ext>
              </a:extLst>
            </p:cNvPr>
            <p:cNvSpPr txBox="1"/>
            <p:nvPr/>
          </p:nvSpPr>
          <p:spPr>
            <a:xfrm>
              <a:off x="-62849" y="8877772"/>
              <a:ext cx="10057541" cy="156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Font typeface="Calibri"/>
                <a:buChar char="-"/>
              </a:pPr>
              <a:r>
                <a:rPr lang="en-US" sz="3200"/>
                <a:t>From Butti et al. 2020 </a:t>
              </a:r>
              <a:endParaRPr lang="en-US"/>
            </a:p>
            <a:p>
              <a:pPr marL="457200" indent="-457200">
                <a:buFont typeface="Calibri"/>
                <a:buChar char="-"/>
              </a:pPr>
              <a:r>
                <a:rPr lang="en-US" sz="3200"/>
                <a:t>N=61 patients with either supratentorial, infratentorial or no lesion (N=21 each)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931637B-948F-B27B-141D-72C4D7E2139D}"/>
                </a:ext>
              </a:extLst>
            </p:cNvPr>
            <p:cNvSpPr txBox="1"/>
            <p:nvPr/>
          </p:nvSpPr>
          <p:spPr>
            <a:xfrm>
              <a:off x="41774" y="705781"/>
              <a:ext cx="6330671" cy="615553"/>
            </a:xfrm>
            <a:prstGeom prst="rect">
              <a:avLst/>
            </a:prstGeom>
            <a:no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400" b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BACKGROUND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FFD40D3-1391-7995-D62D-F27CE929C2F3}"/>
                </a:ext>
              </a:extLst>
            </p:cNvPr>
            <p:cNvSpPr txBox="1"/>
            <p:nvPr/>
          </p:nvSpPr>
          <p:spPr>
            <a:xfrm>
              <a:off x="4679" y="1340740"/>
              <a:ext cx="9948391" cy="21391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200" b="1">
                  <a:solidFill>
                    <a:schemeClr val="tx2">
                      <a:lumMod val="76000"/>
                      <a:lumOff val="24000"/>
                    </a:schemeClr>
                  </a:solidFill>
                </a:rPr>
                <a:t>Universal Cerebellar Transform Theory</a:t>
              </a:r>
              <a:r>
                <a:rPr lang="en-US" sz="3200">
                  <a:solidFill>
                    <a:schemeClr val="tx2">
                      <a:lumMod val="76000"/>
                      <a:lumOff val="24000"/>
                    </a:schemeClr>
                  </a:solidFill>
                </a:rPr>
                <a:t>:</a:t>
              </a:r>
              <a:r>
                <a:rPr lang="en-US" sz="3200"/>
                <a:t> the cerebellum uses prediction and error signaling from inputs in the </a:t>
              </a:r>
              <a:r>
                <a:rPr lang="en-US" sz="3200" err="1"/>
                <a:t>cerebro</a:t>
              </a:r>
              <a:r>
                <a:rPr lang="en-US" sz="3200"/>
                <a:t>-cerebellar loops to generate models used for action prediction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6E7D10D-8735-FAAF-6D68-F468817E8780}"/>
                </a:ext>
              </a:extLst>
            </p:cNvPr>
            <p:cNvGrpSpPr/>
            <p:nvPr/>
          </p:nvGrpSpPr>
          <p:grpSpPr>
            <a:xfrm>
              <a:off x="923" y="3299022"/>
              <a:ext cx="9954728" cy="4971794"/>
              <a:chOff x="923" y="3299022"/>
              <a:chExt cx="9954728" cy="4971794"/>
            </a:xfrm>
          </p:grpSpPr>
          <p:pic>
            <p:nvPicPr>
              <p:cNvPr id="2" name="Picture 1" descr="Figure 2">
                <a:extLst>
                  <a:ext uri="{FF2B5EF4-FFF2-40B4-BE49-F238E27FC236}">
                    <a16:creationId xmlns:a16="http://schemas.microsoft.com/office/drawing/2014/main" id="{3B52C8A0-A730-A4FA-8902-1C3D1C1239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9471" t="50139" r="2089" b="170"/>
              <a:stretch>
                <a:fillRect/>
              </a:stretch>
            </p:blipFill>
            <p:spPr>
              <a:xfrm>
                <a:off x="923" y="3299022"/>
                <a:ext cx="9954728" cy="4971794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E3EBFF-7FFC-9D90-0A78-1810CDBE3A9E}"/>
                  </a:ext>
                </a:extLst>
              </p:cNvPr>
              <p:cNvSpPr txBox="1"/>
              <p:nvPr/>
            </p:nvSpPr>
            <p:spPr>
              <a:xfrm>
                <a:off x="6356" y="7701310"/>
                <a:ext cx="2322122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ea typeface="+mn-lt"/>
                    <a:cs typeface="+mn-lt"/>
                  </a:rPr>
                  <a:t>Sokolov et al. 2017</a:t>
                </a:r>
              </a:p>
            </p:txBody>
          </p:sp>
        </p:grpSp>
        <p:sp>
          <p:nvSpPr>
            <p:cNvPr id="34" name="TextBox 13">
              <a:extLst>
                <a:ext uri="{FF2B5EF4-FFF2-40B4-BE49-F238E27FC236}">
                  <a16:creationId xmlns:a16="http://schemas.microsoft.com/office/drawing/2014/main" id="{A418E047-B5FD-15C3-4BE0-AD491274A40F}"/>
                </a:ext>
              </a:extLst>
            </p:cNvPr>
            <p:cNvSpPr txBox="1"/>
            <p:nvPr/>
          </p:nvSpPr>
          <p:spPr>
            <a:xfrm>
              <a:off x="-54360" y="11043471"/>
              <a:ext cx="9997855" cy="156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57200" indent="-457200">
                <a:buFont typeface="Calibri"/>
                <a:buChar char="-"/>
              </a:pPr>
              <a:r>
                <a:rPr lang="en-US" sz="3200"/>
                <a:t>Can we predict performance accuracy on an action prediction task based on lesion location within the brain?</a:t>
              </a:r>
              <a:endParaRPr lang="en-US"/>
            </a:p>
          </p:txBody>
        </p: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40B53F68-E697-7DE3-04F7-1BD9D378B38C}"/>
                </a:ext>
              </a:extLst>
            </p:cNvPr>
            <p:cNvSpPr txBox="1"/>
            <p:nvPr/>
          </p:nvSpPr>
          <p:spPr>
            <a:xfrm>
              <a:off x="-47452" y="10427270"/>
              <a:ext cx="10002073" cy="615553"/>
            </a:xfrm>
            <a:prstGeom prst="rect">
              <a:avLst/>
            </a:prstGeom>
            <a:no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400" b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RESEARCH QUESTION AND HYPOTHESES</a:t>
              </a:r>
              <a:endParaRPr lang="en-US" sz="340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6EA39F6-B5AF-60FE-5F47-2694C81DFF78}"/>
              </a:ext>
            </a:extLst>
          </p:cNvPr>
          <p:cNvSpPr txBox="1"/>
          <p:nvPr/>
        </p:nvSpPr>
        <p:spPr>
          <a:xfrm>
            <a:off x="234267" y="19244587"/>
            <a:ext cx="7276448" cy="615553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400" b="1">
                <a:solidFill>
                  <a:schemeClr val="tx2">
                    <a:lumMod val="25000"/>
                    <a:lumOff val="75000"/>
                  </a:schemeClr>
                </a:solidFill>
              </a:rPr>
              <a:t>Step 2: Resampling using Bootstrap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C13F1C-C440-CFC7-C4E2-2F9359ADB256}"/>
              </a:ext>
            </a:extLst>
          </p:cNvPr>
          <p:cNvSpPr txBox="1"/>
          <p:nvPr/>
        </p:nvSpPr>
        <p:spPr>
          <a:xfrm>
            <a:off x="225906" y="19896155"/>
            <a:ext cx="10132608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Calibri"/>
              <a:buChar char="-"/>
            </a:pPr>
            <a:r>
              <a:rPr lang="en-US" sz="3200">
                <a:latin typeface="Aptos"/>
                <a:ea typeface="Aptos"/>
                <a:cs typeface="Aptos"/>
              </a:rPr>
              <a:t>Bootstrapping allows us to improve the stability of regression and classification models and reduces variance and the chance of overfitting. </a:t>
            </a:r>
            <a:endParaRPr lang="en-US">
              <a:latin typeface="Aptos"/>
              <a:ea typeface="Aptos"/>
              <a:cs typeface="Aptos"/>
            </a:endParaRPr>
          </a:p>
          <a:p>
            <a:pPr marL="457200" indent="-457200">
              <a:buFont typeface="Calibri"/>
              <a:buChar char="-"/>
            </a:pPr>
            <a:r>
              <a:rPr lang="en-US" sz="3200">
                <a:solidFill>
                  <a:srgbClr val="000000"/>
                </a:solidFill>
                <a:ea typeface="+mn-lt"/>
                <a:cs typeface="+mn-lt"/>
              </a:rPr>
              <a:t>B = 500, Bootstrap MSE = 0.336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69AE6CB7-13A0-630E-8EAF-C2A38B57690C}"/>
              </a:ext>
            </a:extLst>
          </p:cNvPr>
          <p:cNvSpPr txBox="1"/>
          <p:nvPr/>
        </p:nvSpPr>
        <p:spPr>
          <a:xfrm>
            <a:off x="218424" y="13180823"/>
            <a:ext cx="10002073" cy="1138773"/>
          </a:xfrm>
          <a:prstGeom prst="rect">
            <a:avLst/>
          </a:prstGeom>
          <a:noFill/>
          <a:ln w="28575">
            <a:solidFill>
              <a:schemeClr val="tx2">
                <a:lumMod val="50000"/>
                <a:lumOff val="50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400" b="1">
                <a:solidFill>
                  <a:schemeClr val="tx2">
                    <a:lumMod val="25000"/>
                    <a:lumOff val="75000"/>
                  </a:schemeClr>
                </a:solidFill>
              </a:rPr>
              <a:t>Step 1: Assessing Multicollinearity using linear regression</a:t>
            </a:r>
            <a:endParaRPr lang="en-US" sz="340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FE97B893-E8F8-4E85-3CF3-D0292E132E14}"/>
              </a:ext>
            </a:extLst>
          </p:cNvPr>
          <p:cNvSpPr txBox="1"/>
          <p:nvPr/>
        </p:nvSpPr>
        <p:spPr>
          <a:xfrm>
            <a:off x="225316" y="18329248"/>
            <a:ext cx="10055607" cy="95410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/>
              <a:t>Removed: </a:t>
            </a:r>
            <a:r>
              <a:rPr lang="en-US" sz="2800" b="1">
                <a:solidFill>
                  <a:srgbClr val="212529"/>
                </a:solidFill>
                <a:ea typeface="+mn-lt"/>
                <a:cs typeface="+mn-lt"/>
              </a:rPr>
              <a:t>Age, </a:t>
            </a:r>
            <a:r>
              <a:rPr lang="en-US" sz="2800" b="1" err="1">
                <a:solidFill>
                  <a:srgbClr val="212529"/>
                </a:solidFill>
                <a:ea typeface="+mn-lt"/>
                <a:cs typeface="+mn-lt"/>
              </a:rPr>
              <a:t>AgeMonths</a:t>
            </a:r>
            <a:r>
              <a:rPr lang="en-US" sz="2800" b="1">
                <a:solidFill>
                  <a:srgbClr val="212529"/>
                </a:solidFill>
                <a:ea typeface="+mn-lt"/>
                <a:cs typeface="+mn-lt"/>
              </a:rPr>
              <a:t>, Age at diagnosis, Time since diagnosis, Tumor type, Affect Rec. Raw scores</a:t>
            </a:r>
            <a:endParaRPr lang="en-US" sz="3200">
              <a:solidFill>
                <a:srgbClr val="000000"/>
              </a:solidFill>
              <a:ea typeface="+mn-lt"/>
              <a:cs typeface="+mn-lt"/>
            </a:endParaRPr>
          </a:p>
        </p:txBody>
      </p:sp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CA5E9D-2B46-CA4A-01A3-7E5E207D1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07" y="14339395"/>
            <a:ext cx="10059236" cy="3936327"/>
          </a:xfrm>
          <a:prstGeom prst="rect">
            <a:avLst/>
          </a:prstGeom>
        </p:spPr>
      </p:pic>
      <p:grpSp>
        <p:nvGrpSpPr>
          <p:cNvPr id="45" name="Group 44">
            <a:extLst>
              <a:ext uri="{FF2B5EF4-FFF2-40B4-BE49-F238E27FC236}">
                <a16:creationId xmlns:a16="http://schemas.microsoft.com/office/drawing/2014/main" id="{01710A31-BF58-F008-B14D-646EB031E8E6}"/>
              </a:ext>
            </a:extLst>
          </p:cNvPr>
          <p:cNvGrpSpPr/>
          <p:nvPr/>
        </p:nvGrpSpPr>
        <p:grpSpPr>
          <a:xfrm>
            <a:off x="10616664" y="3560493"/>
            <a:ext cx="11203807" cy="17990473"/>
            <a:chOff x="10616664" y="3560493"/>
            <a:chExt cx="11203807" cy="1799047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3271BC07-B195-37F8-B99F-8E5DB6CB79DE}"/>
                </a:ext>
              </a:extLst>
            </p:cNvPr>
            <p:cNvGrpSpPr/>
            <p:nvPr/>
          </p:nvGrpSpPr>
          <p:grpSpPr>
            <a:xfrm>
              <a:off x="10616664" y="14987525"/>
              <a:ext cx="11203807" cy="6563441"/>
              <a:chOff x="21570214" y="3514212"/>
              <a:chExt cx="11203807" cy="6563441"/>
            </a:xfrm>
          </p:grpSpPr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F87FBCD-6F5A-6E2B-58F0-0BA642EC3245}"/>
                  </a:ext>
                </a:extLst>
              </p:cNvPr>
              <p:cNvSpPr txBox="1"/>
              <p:nvPr/>
            </p:nvSpPr>
            <p:spPr>
              <a:xfrm>
                <a:off x="21651589" y="4131640"/>
                <a:ext cx="10721021" cy="210060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Helps reduce multicollinearity and the variance of estimates by constraining the coefficient estimates toward 0</a:t>
                </a:r>
                <a:endParaRPr lang="en-US">
                  <a:solidFill>
                    <a:srgbClr val="000000"/>
                  </a:solidFill>
                  <a:ea typeface="+mn-lt"/>
                  <a:cs typeface="+mn-lt"/>
                </a:endParaRPr>
              </a:p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Ridge MSE = 0.248</a:t>
                </a:r>
              </a:p>
            </p:txBody>
          </p:sp>
          <p:pic>
            <p:nvPicPr>
              <p:cNvPr id="32" name="Picture 31" descr="A graph of a curve&#10;&#10;AI-generated content may be incorrect.">
                <a:extLst>
                  <a:ext uri="{FF2B5EF4-FFF2-40B4-BE49-F238E27FC236}">
                    <a16:creationId xmlns:a16="http://schemas.microsoft.com/office/drawing/2014/main" id="{B22DE0EF-1F8A-E0FB-1ECC-C5296EF9B80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70214" y="6227545"/>
                <a:ext cx="6063916" cy="3830855"/>
              </a:xfrm>
              <a:prstGeom prst="rect">
                <a:avLst/>
              </a:prstGeom>
            </p:spPr>
          </p:pic>
          <p:pic>
            <p:nvPicPr>
              <p:cNvPr id="46" name="Picture 45" descr="A graph with numbers and lines&#10;&#10;AI-generated content may be incorrect.">
                <a:extLst>
                  <a:ext uri="{FF2B5EF4-FFF2-40B4-BE49-F238E27FC236}">
                    <a16:creationId xmlns:a16="http://schemas.microsoft.com/office/drawing/2014/main" id="{E0F35EA9-EEA2-B933-D426-A88651A1C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518627" y="6285298"/>
                <a:ext cx="5255394" cy="3792355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A2173C6-319A-BAD4-AC61-F9A13D7A004B}"/>
                  </a:ext>
                </a:extLst>
              </p:cNvPr>
              <p:cNvSpPr txBox="1"/>
              <p:nvPr/>
            </p:nvSpPr>
            <p:spPr>
              <a:xfrm>
                <a:off x="21683197" y="3514212"/>
                <a:ext cx="2890233" cy="615553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400" b="1">
                    <a:solidFill>
                      <a:schemeClr val="tx2">
                        <a:lumMod val="25000"/>
                        <a:lumOff val="75000"/>
                      </a:schemeClr>
                    </a:solidFill>
                  </a:rPr>
                  <a:t>Step 6: Ridge</a:t>
                </a:r>
                <a:endParaRPr lang="en-US" sz="3400">
                  <a:solidFill>
                    <a:schemeClr val="tx2">
                      <a:lumMod val="25000"/>
                      <a:lumOff val="75000"/>
                    </a:schemeClr>
                  </a:solidFill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74C58B74-9B69-D10D-2282-2AFA92ACDDEC}"/>
                </a:ext>
              </a:extLst>
            </p:cNvPr>
            <p:cNvGrpSpPr/>
            <p:nvPr/>
          </p:nvGrpSpPr>
          <p:grpSpPr>
            <a:xfrm>
              <a:off x="10892149" y="3560493"/>
              <a:ext cx="10334406" cy="11503043"/>
              <a:chOff x="10892149" y="3560493"/>
              <a:chExt cx="10334406" cy="11503043"/>
            </a:xfrm>
          </p:grpSpPr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C36538F-D107-18B1-0EED-049A38481238}"/>
                  </a:ext>
                </a:extLst>
              </p:cNvPr>
              <p:cNvSpPr txBox="1"/>
              <p:nvPr/>
            </p:nvSpPr>
            <p:spPr>
              <a:xfrm>
                <a:off x="10916849" y="4171021"/>
                <a:ext cx="10220508" cy="20621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latin typeface="Aptos"/>
                    <a:ea typeface="+mn-lt"/>
                    <a:cs typeface="+mn-lt"/>
                  </a:rPr>
                  <a:t>PCA seeks a small number of variables that are as interesting as possible, removing multicollinearity and providing low variance</a:t>
                </a:r>
                <a:endParaRPr lang="en-US">
                  <a:latin typeface="Aptos"/>
                  <a:ea typeface="+mn-lt"/>
                  <a:cs typeface="+mn-lt"/>
                </a:endParaRPr>
              </a:p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PCA MSE = 0.431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8F0E685-C581-48E1-38C4-EA306651E856}"/>
                  </a:ext>
                </a:extLst>
              </p:cNvPr>
              <p:cNvSpPr txBox="1"/>
              <p:nvPr/>
            </p:nvSpPr>
            <p:spPr>
              <a:xfrm>
                <a:off x="10892149" y="6847568"/>
                <a:ext cx="10182007" cy="206210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Supervised method of obtaining principal components, used to improve the prediction of the response.</a:t>
                </a:r>
                <a:endParaRPr lang="en-US"/>
              </a:p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PLS MSE = 0.393</a:t>
                </a:r>
                <a:endParaRPr lang="en-US"/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B8E38D09-1D9E-E8E8-5A19-071E133CA40B}"/>
                  </a:ext>
                </a:extLst>
              </p:cNvPr>
              <p:cNvGrpSpPr/>
              <p:nvPr/>
            </p:nvGrpSpPr>
            <p:grpSpPr>
              <a:xfrm>
                <a:off x="10902902" y="8904360"/>
                <a:ext cx="10323653" cy="6159176"/>
                <a:chOff x="10979904" y="11560932"/>
                <a:chExt cx="10323653" cy="6159176"/>
              </a:xfrm>
            </p:grpSpPr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605BA9D5-BFD2-EAE1-7781-1C7D0BCDFE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01676" y="13735251"/>
                  <a:ext cx="5332397" cy="3869359"/>
                </a:xfrm>
                <a:prstGeom prst="rect">
                  <a:avLst/>
                </a:prstGeom>
              </p:spPr>
            </p:pic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06F1084-B857-3CE3-1B36-A2F9BC986FC2}"/>
                    </a:ext>
                  </a:extLst>
                </p:cNvPr>
                <p:cNvSpPr txBox="1"/>
                <p:nvPr/>
              </p:nvSpPr>
              <p:spPr>
                <a:xfrm>
                  <a:off x="10986797" y="12197610"/>
                  <a:ext cx="10316760" cy="156966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marL="457200" indent="-457200">
                    <a:buFont typeface="Calibri"/>
                    <a:buChar char="-"/>
                  </a:pPr>
                  <a:r>
                    <a:rPr lang="en-US" sz="3200">
                      <a:solidFill>
                        <a:srgbClr val="000000"/>
                      </a:solidFill>
                      <a:ea typeface="+mn-lt"/>
                      <a:cs typeface="+mn-lt"/>
                    </a:rPr>
                    <a:t>Least absolute selection and shrinkage operator, uses the L1 norm to minimize SSE</a:t>
                  </a:r>
                  <a:endParaRPr lang="en-US">
                    <a:solidFill>
                      <a:srgbClr val="000000"/>
                    </a:solidFill>
                    <a:ea typeface="+mn-lt"/>
                    <a:cs typeface="+mn-lt"/>
                  </a:endParaRPr>
                </a:p>
                <a:p>
                  <a:pPr marL="457200" indent="-457200">
                    <a:buFont typeface="Calibri"/>
                    <a:buChar char="-"/>
                  </a:pPr>
                  <a:r>
                    <a:rPr lang="en-US" sz="3200">
                      <a:solidFill>
                        <a:srgbClr val="000000"/>
                      </a:solidFill>
                      <a:ea typeface="+mn-lt"/>
                      <a:cs typeface="+mn-lt"/>
                    </a:rPr>
                    <a:t>Lasso MSE = 0.300</a:t>
                  </a:r>
                </a:p>
              </p:txBody>
            </p: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3341C8E9-6C12-EBB2-87ED-4643FB603204}"/>
                    </a:ext>
                  </a:extLst>
                </p:cNvPr>
                <p:cNvGrpSpPr/>
                <p:nvPr/>
              </p:nvGrpSpPr>
              <p:grpSpPr>
                <a:xfrm>
                  <a:off x="16218568" y="13773748"/>
                  <a:ext cx="5062889" cy="3946360"/>
                  <a:chOff x="9923646" y="4148488"/>
                  <a:chExt cx="8662737" cy="6140919"/>
                </a:xfrm>
              </p:grpSpPr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A41C3531-2979-6B7C-72F9-179BD785193B}"/>
                      </a:ext>
                    </a:extLst>
                  </p:cNvPr>
                  <p:cNvSpPr txBox="1"/>
                  <p:nvPr/>
                </p:nvSpPr>
                <p:spPr>
                  <a:xfrm>
                    <a:off x="10027982" y="4342601"/>
                    <a:ext cx="2342719" cy="369332"/>
                  </a:xfrm>
                  <a:prstGeom prst="rect">
                    <a:avLst/>
                  </a:prstGeom>
                  <a:noFill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  <a:prstTxWarp prst="textNoShape">
                      <a:avLst/>
                    </a:prstTxWarp>
                    <a:spAutoFit/>
                  </a:bodyPr>
                  <a:lstStyle/>
                  <a:p>
                    <a:pPr algn="l"/>
                    <a:r>
                      <a:rPr lang="en-US"/>
                      <a:t>LASSO</a:t>
                    </a:r>
                  </a:p>
                </p:txBody>
              </p:sp>
              <p:pic>
                <p:nvPicPr>
                  <p:cNvPr id="13" name="Picture 12" descr="A graph with numbers and a line&#10;&#10;AI-generated content may be incorrect.">
                    <a:extLst>
                      <a:ext uri="{FF2B5EF4-FFF2-40B4-BE49-F238E27FC236}">
                        <a16:creationId xmlns:a16="http://schemas.microsoft.com/office/drawing/2014/main" id="{253DE554-12AE-D7ED-852F-3D9E430EED5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9923646" y="4148488"/>
                    <a:ext cx="8662737" cy="6140919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2FAF9356-F454-2A37-B212-25019913F89B}"/>
                    </a:ext>
                  </a:extLst>
                </p:cNvPr>
                <p:cNvSpPr txBox="1"/>
                <p:nvPr/>
              </p:nvSpPr>
              <p:spPr>
                <a:xfrm>
                  <a:off x="10979904" y="11560932"/>
                  <a:ext cx="3044237" cy="615553"/>
                </a:xfrm>
                <a:prstGeom prst="rect">
                  <a:avLst/>
                </a:prstGeom>
                <a:noFill/>
                <a:ln w="28575">
                  <a:solidFill>
                    <a:schemeClr val="tx2">
                      <a:lumMod val="50000"/>
                      <a:lumOff val="50000"/>
                    </a:schemeClr>
                  </a:solidFill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3400" b="1">
                      <a:solidFill>
                        <a:schemeClr val="tx2">
                          <a:lumMod val="25000"/>
                          <a:lumOff val="75000"/>
                        </a:schemeClr>
                      </a:solidFill>
                    </a:rPr>
                    <a:t>Step 5: Lasso</a:t>
                  </a: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D1DB2F5-75A9-4420-37D3-8FAF99CF6210}"/>
                  </a:ext>
                </a:extLst>
              </p:cNvPr>
              <p:cNvSpPr txBox="1"/>
              <p:nvPr/>
            </p:nvSpPr>
            <p:spPr>
              <a:xfrm>
                <a:off x="10911409" y="3560493"/>
                <a:ext cx="8623984" cy="615553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400" b="1">
                    <a:solidFill>
                      <a:schemeClr val="tx2">
                        <a:lumMod val="25000"/>
                        <a:lumOff val="75000"/>
                      </a:schemeClr>
                    </a:solidFill>
                  </a:rPr>
                  <a:t>Step 3: Principal Components Analysis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78C455-11E2-8515-CAFD-9E24B37D5E43}"/>
                  </a:ext>
                </a:extLst>
              </p:cNvPr>
              <p:cNvSpPr txBox="1"/>
              <p:nvPr/>
            </p:nvSpPr>
            <p:spPr>
              <a:xfrm>
                <a:off x="10904506" y="6249391"/>
                <a:ext cx="5912567" cy="615553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400" b="1">
                    <a:solidFill>
                      <a:schemeClr val="tx2">
                        <a:lumMod val="25000"/>
                        <a:lumOff val="75000"/>
                      </a:schemeClr>
                    </a:solidFill>
                  </a:rPr>
                  <a:t>Step 4: Partial Least Squares </a:t>
                </a: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ABD2122-6727-AA8C-104C-6D3595051821}"/>
              </a:ext>
            </a:extLst>
          </p:cNvPr>
          <p:cNvGrpSpPr/>
          <p:nvPr/>
        </p:nvGrpSpPr>
        <p:grpSpPr>
          <a:xfrm>
            <a:off x="21844094" y="3552713"/>
            <a:ext cx="10761478" cy="18340675"/>
            <a:chOff x="21497584" y="3552713"/>
            <a:chExt cx="10761478" cy="18340675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6CC29821-D2D2-78BA-627F-D99A54C6C00B}"/>
                </a:ext>
              </a:extLst>
            </p:cNvPr>
            <p:cNvGrpSpPr/>
            <p:nvPr/>
          </p:nvGrpSpPr>
          <p:grpSpPr>
            <a:xfrm>
              <a:off x="21683197" y="12061446"/>
              <a:ext cx="10397938" cy="2206339"/>
              <a:chOff x="10922153" y="11098919"/>
              <a:chExt cx="10397938" cy="220633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2C83AB3-3152-D416-81DC-9B04DC9D12A1}"/>
                  </a:ext>
                </a:extLst>
              </p:cNvPr>
              <p:cNvSpPr txBox="1"/>
              <p:nvPr/>
            </p:nvSpPr>
            <p:spPr>
              <a:xfrm>
                <a:off x="10922153" y="11098919"/>
                <a:ext cx="10397938" cy="615553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400" b="1">
                    <a:solidFill>
                      <a:schemeClr val="tx2">
                        <a:lumMod val="25000"/>
                        <a:lumOff val="75000"/>
                      </a:schemeClr>
                    </a:solidFill>
                  </a:rPr>
                  <a:t>Step 9: SVM</a:t>
                </a:r>
                <a:endParaRPr lang="en-US" sz="3400">
                  <a:solidFill>
                    <a:schemeClr val="tx2">
                      <a:lumMod val="25000"/>
                      <a:lumOff val="75000"/>
                    </a:schemeClr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213B26E-E80F-5AE1-065A-D80D1BE1DD9C}"/>
                  </a:ext>
                </a:extLst>
              </p:cNvPr>
              <p:cNvSpPr txBox="1"/>
              <p:nvPr/>
            </p:nvSpPr>
            <p:spPr>
              <a:xfrm>
                <a:off x="10948297" y="11735598"/>
                <a:ext cx="10316760" cy="15696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Supervised method that finds a hyperplane to maximize distance between each class</a:t>
                </a:r>
                <a:endParaRPr lang="en-US">
                  <a:solidFill>
                    <a:srgbClr val="000000"/>
                  </a:solidFill>
                  <a:ea typeface="+mn-lt"/>
                  <a:cs typeface="+mn-lt"/>
                </a:endParaRPr>
              </a:p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SVM MSE = 0.132</a:t>
                </a: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8ABBDC2-D902-74A6-28B2-152C0DCEA843}"/>
                </a:ext>
              </a:extLst>
            </p:cNvPr>
            <p:cNvGrpSpPr/>
            <p:nvPr/>
          </p:nvGrpSpPr>
          <p:grpSpPr>
            <a:xfrm>
              <a:off x="21690090" y="9886136"/>
              <a:ext cx="10316760" cy="2187087"/>
              <a:chOff x="10909795" y="8885109"/>
              <a:chExt cx="10316760" cy="2187087"/>
            </a:xfrm>
          </p:grpSpPr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F06A1999-EECE-7EA8-4559-51FD3C20E484}"/>
                  </a:ext>
                </a:extLst>
              </p:cNvPr>
              <p:cNvSpPr txBox="1"/>
              <p:nvPr/>
            </p:nvSpPr>
            <p:spPr>
              <a:xfrm>
                <a:off x="10941404" y="8885109"/>
                <a:ext cx="2755479" cy="615553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400" b="1">
                    <a:solidFill>
                      <a:schemeClr val="tx2">
                        <a:lumMod val="25000"/>
                        <a:lumOff val="75000"/>
                      </a:schemeClr>
                    </a:solidFill>
                  </a:rPr>
                  <a:t>Step 8: KNN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474880F-E59A-79FD-F863-34B6AA1C0FB4}"/>
                  </a:ext>
                </a:extLst>
              </p:cNvPr>
              <p:cNvSpPr txBox="1"/>
              <p:nvPr/>
            </p:nvSpPr>
            <p:spPr>
              <a:xfrm>
                <a:off x="10909795" y="9502536"/>
                <a:ext cx="10316760" cy="15696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Supervised method that predicts based on proximity to group </a:t>
                </a:r>
                <a:endParaRPr lang="en-US">
                  <a:solidFill>
                    <a:srgbClr val="000000"/>
                  </a:solidFill>
                  <a:ea typeface="+mn-lt"/>
                  <a:cs typeface="+mn-lt"/>
                </a:endParaRPr>
              </a:p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KNN MSE = 0.221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E79B96A-A0F4-D8EC-E375-17CAFACE8319}"/>
                </a:ext>
              </a:extLst>
            </p:cNvPr>
            <p:cNvSpPr txBox="1"/>
            <p:nvPr/>
          </p:nvSpPr>
          <p:spPr>
            <a:xfrm>
              <a:off x="21697012" y="14256548"/>
              <a:ext cx="6330671" cy="615553"/>
            </a:xfrm>
            <a:prstGeom prst="rect">
              <a:avLst/>
            </a:prstGeom>
            <a:no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400" b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CONCLUSIONS</a:t>
              </a:r>
              <a:endParaRPr lang="en-US" sz="3400">
                <a:solidFill>
                  <a:schemeClr val="tx2">
                    <a:lumMod val="25000"/>
                    <a:lumOff val="75000"/>
                  </a:schemeClr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99FF1B-1FE2-E184-5141-FCA0A93689B2}"/>
                </a:ext>
              </a:extLst>
            </p:cNvPr>
            <p:cNvSpPr txBox="1"/>
            <p:nvPr/>
          </p:nvSpPr>
          <p:spPr>
            <a:xfrm>
              <a:off x="21698418" y="14910759"/>
              <a:ext cx="10352652" cy="4524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Font typeface="Calibri"/>
                <a:buChar char="-"/>
              </a:pPr>
              <a:r>
                <a:rPr lang="en-US" sz="3200"/>
                <a:t>Comparing the model types shows that SVM methods are the best for our data set, having the smallest error.</a:t>
              </a:r>
            </a:p>
            <a:p>
              <a:pPr marL="457200" indent="-457200">
                <a:buFont typeface="Calibri"/>
                <a:buChar char="-"/>
              </a:pPr>
              <a:r>
                <a:rPr lang="en-US" sz="3200"/>
                <a:t>Overall, the models show that ATP 10% and 40% are the best predictors of performance accuracy, lesion location was not significant in our models.</a:t>
              </a:r>
            </a:p>
            <a:p>
              <a:pPr marL="457200" indent="-457200">
                <a:buFont typeface="Calibri"/>
                <a:buChar char="-"/>
              </a:pPr>
              <a:r>
                <a:rPr lang="en-US" sz="3200"/>
                <a:t>Recommendations: </a:t>
              </a:r>
            </a:p>
            <a:p>
              <a:pPr marL="914400" lvl="1" indent="-457200">
                <a:buFont typeface="Courier New"/>
                <a:buChar char="o"/>
              </a:pPr>
              <a:r>
                <a:rPr lang="en-US" sz="3200"/>
                <a:t>Increase sample size</a:t>
              </a:r>
            </a:p>
            <a:p>
              <a:pPr marL="914400" lvl="1" indent="-457200">
                <a:buFont typeface="Courier New"/>
                <a:buChar char="o"/>
              </a:pPr>
              <a:r>
                <a:rPr lang="en-US" sz="3200"/>
                <a:t>Include age of lesion to assess developmental outcomes</a:t>
              </a:r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317929D-9D5A-9399-4C34-C806FB8F40E9}"/>
                </a:ext>
              </a:extLst>
            </p:cNvPr>
            <p:cNvGrpSpPr/>
            <p:nvPr/>
          </p:nvGrpSpPr>
          <p:grpSpPr>
            <a:xfrm>
              <a:off x="21497584" y="3552713"/>
              <a:ext cx="10761478" cy="6274681"/>
              <a:chOff x="21555336" y="10078641"/>
              <a:chExt cx="10761478" cy="6274681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95A97B-EF98-F286-2CF2-C26E1103BE99}"/>
                  </a:ext>
                </a:extLst>
              </p:cNvPr>
              <p:cNvSpPr txBox="1"/>
              <p:nvPr/>
            </p:nvSpPr>
            <p:spPr>
              <a:xfrm>
                <a:off x="21586944" y="10078641"/>
                <a:ext cx="4622779" cy="615553"/>
              </a:xfrm>
              <a:prstGeom prst="rect">
                <a:avLst/>
              </a:prstGeom>
              <a:noFill/>
              <a:ln w="28575"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400" b="1">
                    <a:solidFill>
                      <a:schemeClr val="tx2">
                        <a:lumMod val="25000"/>
                        <a:lumOff val="75000"/>
                      </a:schemeClr>
                    </a:solidFill>
                  </a:rPr>
                  <a:t>Step 7: Decision Trees</a:t>
                </a:r>
                <a:endParaRPr lang="en-US" sz="3400">
                  <a:solidFill>
                    <a:schemeClr val="tx2">
                      <a:lumMod val="25000"/>
                      <a:lumOff val="75000"/>
                    </a:schemeClr>
                  </a:solidFill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9CB8D91-50F6-18BA-ED7D-D6DEF81C1B45}"/>
                  </a:ext>
                </a:extLst>
              </p:cNvPr>
              <p:cNvSpPr txBox="1"/>
              <p:nvPr/>
            </p:nvSpPr>
            <p:spPr>
              <a:xfrm>
                <a:off x="21555336" y="10696069"/>
                <a:ext cx="10721021" cy="156966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Supervised method that allows for visualization of decision rules</a:t>
                </a:r>
              </a:p>
              <a:p>
                <a:pPr marL="457200" indent="-457200">
                  <a:buFont typeface="Calibri"/>
                  <a:buChar char="-"/>
                </a:pPr>
                <a:r>
                  <a:rPr lang="en-US" sz="3200">
                    <a:solidFill>
                      <a:srgbClr val="000000"/>
                    </a:solidFill>
                    <a:ea typeface="+mn-lt"/>
                    <a:cs typeface="+mn-lt"/>
                  </a:rPr>
                  <a:t>Tree MSE = 0.998 (very high)</a:t>
                </a:r>
              </a:p>
            </p:txBody>
          </p:sp>
          <p:pic>
            <p:nvPicPr>
              <p:cNvPr id="11" name="Picture 10" descr="A diagram of a number of numbers&#10;&#10;AI-generated content may be incorrect.">
                <a:extLst>
                  <a:ext uri="{FF2B5EF4-FFF2-40B4-BE49-F238E27FC236}">
                    <a16:creationId xmlns:a16="http://schemas.microsoft.com/office/drawing/2014/main" id="{87A53EE4-0F0F-C160-F2AA-5B186FD79A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671274" y="12214457"/>
                <a:ext cx="10645540" cy="4138865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</p:pic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834C234-2339-BF12-52CD-0A09A74823AF}"/>
                </a:ext>
              </a:extLst>
            </p:cNvPr>
            <p:cNvSpPr txBox="1"/>
            <p:nvPr/>
          </p:nvSpPr>
          <p:spPr>
            <a:xfrm>
              <a:off x="21698417" y="19954396"/>
              <a:ext cx="10352652" cy="19389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da-DK" sz="1200" err="1">
                  <a:solidFill>
                    <a:srgbClr val="212121"/>
                  </a:solidFill>
                  <a:latin typeface="Arial Nova"/>
                </a:rPr>
                <a:t>Butti</a:t>
              </a:r>
              <a:r>
                <a:rPr lang="da-DK" sz="1200">
                  <a:solidFill>
                    <a:srgbClr val="212121"/>
                  </a:solidFill>
                  <a:latin typeface="Arial Nova"/>
                </a:rPr>
                <a:t>, N., </a:t>
              </a:r>
              <a:r>
                <a:rPr lang="da-DK" sz="1200" err="1">
                  <a:solidFill>
                    <a:srgbClr val="212121"/>
                  </a:solidFill>
                  <a:latin typeface="Arial Nova"/>
                </a:rPr>
                <a:t>Corti</a:t>
              </a:r>
              <a:r>
                <a:rPr lang="da-DK" sz="1200">
                  <a:solidFill>
                    <a:srgbClr val="212121"/>
                  </a:solidFill>
                  <a:latin typeface="Arial Nova"/>
                </a:rPr>
                <a:t>, C., </a:t>
              </a:r>
              <a:r>
                <a:rPr lang="da-DK" sz="1200" err="1">
                  <a:solidFill>
                    <a:srgbClr val="212121"/>
                  </a:solidFill>
                  <a:latin typeface="Arial Nova"/>
                </a:rPr>
                <a:t>Finisguerra</a:t>
              </a:r>
              <a:r>
                <a:rPr lang="da-DK" sz="1200">
                  <a:solidFill>
                    <a:srgbClr val="212121"/>
                  </a:solidFill>
                  <a:latin typeface="Arial Nova"/>
                </a:rPr>
                <a:t>, A., </a:t>
              </a:r>
              <a:r>
                <a:rPr lang="da-DK" sz="1200" err="1">
                  <a:solidFill>
                    <a:srgbClr val="212121"/>
                  </a:solidFill>
                  <a:latin typeface="Arial Nova"/>
                </a:rPr>
                <a:t>Bardoni</a:t>
              </a:r>
              <a:r>
                <a:rPr lang="da-DK" sz="1200">
                  <a:solidFill>
                    <a:srgbClr val="212121"/>
                  </a:solidFill>
                  <a:latin typeface="Arial Nova"/>
                </a:rPr>
                <a:t>, A., </a:t>
              </a:r>
              <a:r>
                <a:rPr lang="da-DK" sz="1200" err="1">
                  <a:solidFill>
                    <a:srgbClr val="212121"/>
                  </a:solidFill>
                  <a:latin typeface="Arial Nova"/>
                </a:rPr>
                <a:t>Borgatti</a:t>
              </a:r>
              <a:r>
                <a:rPr lang="da-DK" sz="1200">
                  <a:solidFill>
                    <a:srgbClr val="212121"/>
                  </a:solidFill>
                  <a:latin typeface="Arial Nova"/>
                </a:rPr>
                <a:t>, R., </a:t>
              </a:r>
              <a:r>
                <a:rPr lang="da-DK" sz="1200" err="1">
                  <a:solidFill>
                    <a:srgbClr val="212121"/>
                  </a:solidFill>
                  <a:latin typeface="Arial Nova"/>
                </a:rPr>
                <a:t>Poggi</a:t>
              </a:r>
              <a:r>
                <a:rPr lang="da-DK" sz="1200">
                  <a:solidFill>
                    <a:srgbClr val="212121"/>
                  </a:solidFill>
                  <a:latin typeface="Arial Nova"/>
                </a:rPr>
                <a:t>, G., &amp; </a:t>
              </a:r>
              <a:r>
                <a:rPr lang="da-DK" sz="1200" err="1">
                  <a:solidFill>
                    <a:srgbClr val="212121"/>
                  </a:solidFill>
                  <a:latin typeface="Arial Nova"/>
                </a:rPr>
                <a:t>Urgesi</a:t>
              </a:r>
              <a:r>
                <a:rPr lang="da-DK" sz="1200">
                  <a:solidFill>
                    <a:srgbClr val="212121"/>
                  </a:solidFill>
                  <a:latin typeface="Arial Nova"/>
                </a:rPr>
                <a:t>, C. (2020). 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Cerebellar damage affects contextual priors for action prediction in patients with childhood brain tumor. </a:t>
              </a:r>
              <a:r>
                <a:rPr lang="en-US" sz="1200" i="1">
                  <a:solidFill>
                    <a:srgbClr val="212121"/>
                  </a:solidFill>
                  <a:latin typeface="Arial Nova"/>
                </a:rPr>
                <a:t>Cerebellum (London, England)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</a:t>
              </a:r>
              <a:r>
                <a:rPr lang="en-US" sz="1200" i="1">
                  <a:solidFill>
                    <a:srgbClr val="212121"/>
                  </a:solidFill>
                  <a:latin typeface="Arial Nova"/>
                </a:rPr>
                <a:t>19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(6), 799–811. </a:t>
              </a:r>
              <a:r>
                <a:rPr lang="en-US" sz="1200" u="sng">
                  <a:latin typeface="Arial Nova"/>
                  <a:hlinkClick r:id="rId10"/>
                </a:rPr>
                <a:t>https://doi.org/10.1007/s12311-020-01168-w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 </a:t>
              </a:r>
            </a:p>
            <a:p>
              <a:r>
                <a:rPr lang="en-US" sz="1200">
                  <a:solidFill>
                    <a:srgbClr val="000000"/>
                  </a:solidFill>
                  <a:latin typeface="Arial Nova"/>
                </a:rPr>
                <a:t>Glaser, J. I., Benjamin, A.S., </a:t>
              </a:r>
              <a:r>
                <a:rPr lang="en-US" sz="1200" err="1">
                  <a:solidFill>
                    <a:srgbClr val="000000"/>
                  </a:solidFill>
                  <a:latin typeface="Arial Nova"/>
                </a:rPr>
                <a:t>Farhoodi</a:t>
              </a:r>
              <a:r>
                <a:rPr lang="en-US" sz="1200">
                  <a:solidFill>
                    <a:srgbClr val="000000"/>
                  </a:solidFill>
                  <a:latin typeface="Arial Nova"/>
                </a:rPr>
                <a:t>, R., </a:t>
              </a:r>
              <a:r>
                <a:rPr lang="en-US" sz="1200" err="1">
                  <a:solidFill>
                    <a:srgbClr val="000000"/>
                  </a:solidFill>
                  <a:latin typeface="Arial Nova"/>
                </a:rPr>
                <a:t>Kording</a:t>
              </a:r>
              <a:r>
                <a:rPr lang="en-US" sz="1200">
                  <a:solidFill>
                    <a:srgbClr val="000000"/>
                  </a:solidFill>
                  <a:latin typeface="Arial Nova"/>
                </a:rPr>
                <a:t>, K.P. (2019). The roles of supervised machine learning in systems neuroscience. </a:t>
              </a:r>
              <a:r>
                <a:rPr lang="en-US" sz="1200" i="1">
                  <a:solidFill>
                    <a:srgbClr val="000000"/>
                  </a:solidFill>
                  <a:latin typeface="Arial Nova"/>
                </a:rPr>
                <a:t>Progress in Neurobiology, 175, </a:t>
              </a:r>
              <a:r>
                <a:rPr lang="en-US" sz="1200">
                  <a:solidFill>
                    <a:srgbClr val="000000"/>
                  </a:solidFill>
                  <a:latin typeface="Arial Nova"/>
                </a:rPr>
                <a:t>126-137. </a:t>
              </a:r>
              <a:r>
                <a:rPr lang="en-US" sz="1200" u="sng">
                  <a:solidFill>
                    <a:srgbClr val="212121"/>
                  </a:solidFill>
                  <a:latin typeface="Arial Nova"/>
                  <a:hlinkClick r:id="rId11"/>
                </a:rPr>
                <a:t>https://doi.org/10.1016/j.pneurobio.2019.01.008</a:t>
              </a:r>
              <a:r>
                <a:rPr lang="en-US" sz="1200">
                  <a:solidFill>
                    <a:srgbClr val="000000"/>
                  </a:solidFill>
                  <a:latin typeface="Arial Nova"/>
                </a:rPr>
                <a:t>. </a:t>
              </a:r>
            </a:p>
            <a:p>
              <a:r>
                <a:rPr lang="en-US" sz="1200" err="1">
                  <a:solidFill>
                    <a:srgbClr val="212121"/>
                  </a:solidFill>
                  <a:latin typeface="Arial Nova"/>
                </a:rPr>
                <a:t>Stoodley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C. J., </a:t>
              </a:r>
              <a:r>
                <a:rPr lang="en-US" sz="1200" err="1">
                  <a:solidFill>
                    <a:srgbClr val="212121"/>
                  </a:solidFill>
                  <a:latin typeface="Arial Nova"/>
                </a:rPr>
                <a:t>MacMore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J. P., Makris, N., Sherman, J. C., &amp; </a:t>
              </a:r>
              <a:r>
                <a:rPr lang="en-US" sz="1200" err="1">
                  <a:solidFill>
                    <a:srgbClr val="212121"/>
                  </a:solidFill>
                  <a:latin typeface="Arial Nova"/>
                </a:rPr>
                <a:t>Schmahmann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J. D. (2016). Location of lesion determines motor vs. cognitive consequences in patients with cerebellar stroke. </a:t>
              </a:r>
              <a:r>
                <a:rPr lang="en-US" sz="1200" i="1" err="1">
                  <a:solidFill>
                    <a:srgbClr val="212121"/>
                  </a:solidFill>
                  <a:latin typeface="Arial Nova"/>
                </a:rPr>
                <a:t>NeuroImage</a:t>
              </a:r>
              <a:r>
                <a:rPr lang="en-US" sz="1200" i="1">
                  <a:solidFill>
                    <a:srgbClr val="212121"/>
                  </a:solidFill>
                  <a:latin typeface="Arial Nova"/>
                </a:rPr>
                <a:t>. Clinical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</a:t>
              </a:r>
              <a:r>
                <a:rPr lang="en-US" sz="1200" i="1">
                  <a:solidFill>
                    <a:srgbClr val="212121"/>
                  </a:solidFill>
                  <a:latin typeface="Arial Nova"/>
                </a:rPr>
                <a:t>12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765–775. </a:t>
              </a:r>
              <a:r>
                <a:rPr lang="en-US" sz="1200" u="sng">
                  <a:solidFill>
                    <a:srgbClr val="000000"/>
                  </a:solidFill>
                  <a:latin typeface="Arial Nova"/>
                  <a:hlinkClick r:id="rId12"/>
                </a:rPr>
                <a:t>https://doi.org/10.1016/j.nicl.2016.10.013</a:t>
              </a:r>
              <a:endParaRPr lang="en-US" sz="1200">
                <a:solidFill>
                  <a:srgbClr val="000000"/>
                </a:solidFill>
                <a:latin typeface="Arial Nova"/>
              </a:endParaRPr>
            </a:p>
            <a:p>
              <a:r>
                <a:rPr lang="en-US" sz="1200" err="1">
                  <a:solidFill>
                    <a:srgbClr val="212121"/>
                  </a:solidFill>
                  <a:latin typeface="Arial Nova"/>
                </a:rPr>
                <a:t>Stoodley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C. J., &amp; </a:t>
              </a:r>
              <a:r>
                <a:rPr lang="en-US" sz="1200" err="1">
                  <a:solidFill>
                    <a:srgbClr val="212121"/>
                  </a:solidFill>
                  <a:latin typeface="Arial Nova"/>
                </a:rPr>
                <a:t>Schmahmann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J. D. (2010). Evidence for topographic organization in the cerebellum of motor control versus cognitive and affective processing. </a:t>
              </a:r>
              <a:r>
                <a:rPr lang="en-US" sz="1200" i="1">
                  <a:solidFill>
                    <a:srgbClr val="212121"/>
                  </a:solidFill>
                  <a:latin typeface="Arial Nova"/>
                </a:rPr>
                <a:t>Cortex; a journal devoted to the study of the nervous system and behavior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, </a:t>
              </a:r>
              <a:r>
                <a:rPr lang="en-US" sz="1200" i="1">
                  <a:solidFill>
                    <a:srgbClr val="212121"/>
                  </a:solidFill>
                  <a:latin typeface="Arial Nova"/>
                </a:rPr>
                <a:t>46</a:t>
              </a:r>
              <a:r>
                <a:rPr lang="en-US" sz="1200">
                  <a:solidFill>
                    <a:srgbClr val="212121"/>
                  </a:solidFill>
                  <a:latin typeface="Arial Nova"/>
                </a:rPr>
                <a:t>(7), 831–844. </a:t>
              </a:r>
              <a:r>
                <a:rPr lang="en-US" sz="1200" u="sng">
                  <a:solidFill>
                    <a:srgbClr val="000000"/>
                  </a:solidFill>
                  <a:latin typeface="Arial Nova"/>
                  <a:hlinkClick r:id="rId13"/>
                </a:rPr>
                <a:t>https://doi.org/10.1016/j.cortex.2009.11.008</a:t>
              </a:r>
              <a:endParaRPr lang="en-US" sz="1200">
                <a:solidFill>
                  <a:srgbClr val="000000"/>
                </a:solidFill>
                <a:latin typeface="Arial Nova"/>
              </a:endParaRPr>
            </a:p>
            <a:p>
              <a:r>
                <a:rPr lang="en-US" sz="1200">
                  <a:solidFill>
                    <a:srgbClr val="000000"/>
                  </a:solidFill>
                  <a:latin typeface="Arial Nova"/>
                </a:rPr>
                <a:t>e, Q., Wang, S., Zhu, J., Zhang, X. (2016). Modeling and predicting AD progression by regression analysis of sequential clinical data. </a:t>
              </a:r>
              <a:r>
                <a:rPr lang="en-US" sz="1200" i="1">
                  <a:solidFill>
                    <a:srgbClr val="000000"/>
                  </a:solidFill>
                  <a:latin typeface="Arial Nova"/>
                </a:rPr>
                <a:t>Neurocomputing, 195</a:t>
              </a:r>
              <a:r>
                <a:rPr lang="en-US" sz="1200">
                  <a:solidFill>
                    <a:srgbClr val="000000"/>
                  </a:solidFill>
                  <a:latin typeface="Arial Nova"/>
                </a:rPr>
                <a:t>. 50-55. </a:t>
              </a:r>
              <a:r>
                <a:rPr lang="en-US" sz="1200" u="sng">
                  <a:solidFill>
                    <a:srgbClr val="000000"/>
                  </a:solidFill>
                  <a:latin typeface="Arial Nova"/>
                  <a:hlinkClick r:id="rId14"/>
                </a:rPr>
                <a:t>https://doi.org/10.1016/j.neucom.2015.07.145</a:t>
              </a:r>
              <a:r>
                <a:rPr lang="en-US" sz="1200">
                  <a:solidFill>
                    <a:srgbClr val="000000"/>
                  </a:solidFill>
                  <a:latin typeface="Arial Nova"/>
                </a:rPr>
                <a:t>. 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650BDBC-AD83-E0D6-02C1-E054604E1989}"/>
                </a:ext>
              </a:extLst>
            </p:cNvPr>
            <p:cNvSpPr txBox="1"/>
            <p:nvPr/>
          </p:nvSpPr>
          <p:spPr>
            <a:xfrm>
              <a:off x="21697011" y="19338686"/>
              <a:ext cx="6330671" cy="615553"/>
            </a:xfrm>
            <a:prstGeom prst="rect">
              <a:avLst/>
            </a:prstGeom>
            <a:noFill/>
            <a:ln w="28575">
              <a:solidFill>
                <a:schemeClr val="tx2">
                  <a:lumMod val="50000"/>
                  <a:lumOff val="50000"/>
                </a:schemeClr>
              </a:solidFill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400" b="1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REFERENCES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872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693</Words>
  <Application>Microsoft Office PowerPoint</Application>
  <PresentationFormat>Custom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Arial Nova</vt:lpstr>
      <vt:lpstr>Calibri</vt:lpstr>
      <vt:lpstr>Courier New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Ogechi Onyewu</dc:creator>
  <cp:lastModifiedBy>Ogechi Onyewu</cp:lastModifiedBy>
  <cp:revision>3</cp:revision>
  <dcterms:created xsi:type="dcterms:W3CDTF">2025-11-11T16:26:58Z</dcterms:created>
  <dcterms:modified xsi:type="dcterms:W3CDTF">2025-12-04T07:23:49Z</dcterms:modified>
</cp:coreProperties>
</file>